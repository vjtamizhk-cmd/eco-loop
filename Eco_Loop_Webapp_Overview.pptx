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BE80"/>
                </a:solidFill>
                <a:latin typeface="Aptos Display"/>
              </a:defRPr>
            </a:pPr>
            <a:r>
              <a:t>ECO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05740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5FAFC"/>
                </a:solidFill>
                <a:latin typeface="Aptos Display"/>
              </a:defRPr>
            </a:pPr>
            <a:r>
              <a:t>Smart Waste Collection &amp; EcoCredits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7223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BBEC9"/>
                </a:solidFill>
                <a:latin typeface="Aptos Display"/>
              </a:defRPr>
            </a:pPr>
            <a:r>
              <a:t>A web application connecting citizens, collectors, administrators, and city operations in one accountable recycling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00600"/>
            <a:ext cx="2606040" cy="100584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800600"/>
            <a:ext cx="64008" cy="100584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01091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RECYCLE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440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3794760" y="4800600"/>
            <a:ext cx="2606040" cy="100584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94760" y="4800600"/>
            <a:ext cx="64008" cy="1005840"/>
          </a:xfrm>
          <a:prstGeom prst="rect">
            <a:avLst/>
          </a:prstGeom>
          <a:solidFill>
            <a:srgbClr val="FA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501091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5440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6766560" y="4800600"/>
            <a:ext cx="2606040" cy="100584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66560" y="4800600"/>
            <a:ext cx="64008" cy="100584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501091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IMPROVE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440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AFC"/>
                </a:solidFill>
                <a:latin typeface="Aptos Display"/>
              </a:defRPr>
            </a:pPr>
            <a:r>
              <a:t>The problem Eco Loop addresses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BBEC9"/>
                </a:solidFill>
                <a:latin typeface="Aptos Display"/>
              </a:defRPr>
            </a:pPr>
            <a:r>
              <a:t>Waste systems need participation, visibility, and reliable follow-through.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429000" cy="338328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64008" cy="338328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3911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For citizens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3017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Recycling is often disconnected from tangible feedback. Eco Loop makes requests, collection status, and earned credits visible in one 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338328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64008" cy="3383280"/>
          </a:xfrm>
          <a:prstGeom prst="rect">
            <a:avLst/>
          </a:prstGeom>
          <a:solidFill>
            <a:srgbClr val="FA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3911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For collectors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68880"/>
            <a:ext cx="3017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Field teams need a quick way to identify a resident, record waste by type and weight, and complete collection accurately.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28800"/>
            <a:ext cx="3429000" cy="338328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828800"/>
            <a:ext cx="64008" cy="338328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03911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For cities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68880"/>
            <a:ext cx="3017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Administrators need a clear operational picture: collection activity, service requests, reports, and surveillance coverage.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AFC"/>
                </a:solidFill>
                <a:latin typeface="Aptos Display"/>
              </a:defRPr>
            </a:pPr>
            <a:r>
              <a:t>One platform, four clear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91640"/>
            <a:ext cx="2560320" cy="356616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64008" cy="356616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01952"/>
            <a:ext cx="2148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Citizen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14883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Requests pickup</a:t>
            </a:r>
            <a:br/>
            <a:r>
              <a:t>Views collection history</a:t>
            </a:r>
            <a:br/>
            <a:r>
              <a:t>Earns and redeems EcoCredits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691640"/>
            <a:ext cx="2560320" cy="356616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40" y="1691640"/>
            <a:ext cx="64008" cy="3566160"/>
          </a:xfrm>
          <a:prstGeom prst="rect">
            <a:avLst/>
          </a:prstGeom>
          <a:solidFill>
            <a:srgbClr val="FA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901952"/>
            <a:ext cx="2148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Collector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331720"/>
            <a:ext cx="214883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Scans citizen QR</a:t>
            </a:r>
            <a:br/>
            <a:r>
              <a:t>Logs waste type and weight</a:t>
            </a:r>
            <a:br/>
            <a:r>
              <a:t>Completes assigned pickups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2560320" cy="356616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91640"/>
            <a:ext cx="64008" cy="356616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01952"/>
            <a:ext cx="2148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214883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Monitors activity</a:t>
            </a:r>
            <a:br/>
            <a:r>
              <a:t>Handles field operations</a:t>
            </a:r>
            <a:br/>
            <a:r>
              <a:t>Reviews local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691640"/>
            <a:ext cx="2331720" cy="356616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6840" y="1691640"/>
            <a:ext cx="64008" cy="356616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901952"/>
            <a:ext cx="19202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Super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331720"/>
            <a:ext cx="192023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Oversees platform data</a:t>
            </a:r>
            <a:br/>
            <a:r>
              <a:t>Manages users and services</a:t>
            </a:r>
            <a:br/>
            <a:r>
              <a:t>Uses city-wide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AFC"/>
                </a:solidFill>
                <a:latin typeface="Aptos Display"/>
              </a:defRPr>
            </a:pPr>
            <a:r>
              <a:t>How the recycling loop works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874519"/>
            <a:ext cx="640080" cy="640080"/>
          </a:xfrm>
          <a:prstGeom prst="ellipse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926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2331720" cy="182880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743200"/>
            <a:ext cx="64008" cy="182880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53512"/>
            <a:ext cx="19202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19202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A citizen requests a pickup.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0299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9F5D5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0" y="1874519"/>
            <a:ext cx="640080" cy="640080"/>
          </a:xfrm>
          <a:prstGeom prst="ellipse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97510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926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743200"/>
            <a:ext cx="2331720" cy="182880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2743200"/>
            <a:ext cx="64008" cy="182880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2953512"/>
            <a:ext cx="19202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Collect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383280"/>
            <a:ext cx="19202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A collector identifies the citizen and records recyclable waste.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0299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9F5D5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6355079" y="1874519"/>
            <a:ext cx="640080" cy="640080"/>
          </a:xfrm>
          <a:prstGeom prst="ellipse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197510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926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743200"/>
            <a:ext cx="2331720" cy="182880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743200"/>
            <a:ext cx="64008" cy="182880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2953512"/>
            <a:ext cx="19202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Credit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3383280"/>
            <a:ext cx="19202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The platform records EcoCredits for the verified collection.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0299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9F5D5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9143999" y="1874519"/>
            <a:ext cx="640080" cy="640080"/>
          </a:xfrm>
          <a:prstGeom prst="ellipse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3999" y="197510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926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3999" y="2743200"/>
            <a:ext cx="2331720" cy="182880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3999" y="2743200"/>
            <a:ext cx="64008" cy="182880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599" y="2953512"/>
            <a:ext cx="19202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599" y="3383280"/>
            <a:ext cx="19202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Each role sees the updated activity and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AFC"/>
                </a:solidFill>
                <a:latin typeface="Aptos Display"/>
              </a:defRPr>
            </a:pPr>
            <a:r>
              <a:t>Citizen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BBEC9"/>
                </a:solidFill>
                <a:latin typeface="Aptos Display"/>
              </a:defRPr>
            </a:pPr>
            <a:r>
              <a:t>Simple actions, transparent records, and practical rewards.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746504"/>
            <a:ext cx="128016" cy="128016"/>
          </a:xfrm>
          <a:prstGeom prst="ellipse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1645920"/>
            <a:ext cx="9948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AFC"/>
                </a:solidFill>
                <a:latin typeface="Aptos Display"/>
              </a:defRPr>
            </a:pPr>
            <a:r>
              <a:t>Request pickup for recyclable waste from the dashboard.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59736"/>
            <a:ext cx="128016" cy="128016"/>
          </a:xfrm>
          <a:prstGeom prst="ellipse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359152"/>
            <a:ext cx="9948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AFC"/>
                </a:solidFill>
                <a:latin typeface="Aptos Display"/>
              </a:defRPr>
            </a:pPr>
            <a:r>
              <a:t>Access a personal QR identity for quick, accurate collection logging.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172968"/>
            <a:ext cx="128016" cy="128016"/>
          </a:xfrm>
          <a:prstGeom prst="ellipse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072384"/>
            <a:ext cx="9948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AFC"/>
                </a:solidFill>
                <a:latin typeface="Aptos Display"/>
              </a:defRPr>
            </a:pPr>
            <a:r>
              <a:t>See current EcoCredits, collection status, and a clean record of activity.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886200"/>
            <a:ext cx="128016" cy="128016"/>
          </a:xfrm>
          <a:prstGeom prst="ellipse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785615"/>
            <a:ext cx="9948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AFC"/>
                </a:solidFill>
                <a:latin typeface="Aptos Display"/>
              </a:defRPr>
            </a:pPr>
            <a:r>
              <a:t>Redeem credits through the available rewards catalog — without user classes or tiers.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AFC"/>
                </a:solidFill>
                <a:latin typeface="Aptos Display"/>
              </a:defRPr>
            </a:pPr>
            <a:r>
              <a:t>Collector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BBEC9"/>
                </a:solidFill>
                <a:latin typeface="Aptos Display"/>
              </a:defRPr>
            </a:pPr>
            <a:r>
              <a:t>Designed for fast, verified collection in the field.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246120" cy="297180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64008" cy="297180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39112"/>
            <a:ext cx="2834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Identify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8346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Scan the citizen QR code or enter their Eco Loop 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46120" cy="297180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64008" cy="2971800"/>
          </a:xfrm>
          <a:prstGeom prst="rect">
            <a:avLst/>
          </a:prstGeom>
          <a:solidFill>
            <a:srgbClr val="FA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39112"/>
            <a:ext cx="2834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8346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Select waste type, enter the measured weight, and confirm the collection.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246120" cy="297180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828800"/>
            <a:ext cx="64008" cy="297180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39112"/>
            <a:ext cx="2834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80"/>
            <a:ext cx="28346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The collection is reflected in the citizen record and operational 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AFC"/>
                </a:solidFill>
                <a:latin typeface="Aptos Display"/>
              </a:defRPr>
            </a:pPr>
            <a:r>
              <a:t>Operational monitoring in Chennai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78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BBEC9"/>
                </a:solidFill>
                <a:latin typeface="Aptos Display"/>
              </a:defRPr>
            </a:pPr>
            <a:r>
              <a:t>A city-focused monitoring view helps teams act on the same picture.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6583680" cy="4160520"/>
          </a:xfrm>
          <a:prstGeom prst="roundRect">
            <a:avLst/>
          </a:prstGeom>
          <a:solidFill>
            <a:srgbClr val="1B414D"/>
          </a:solidFill>
          <a:ln>
            <a:solidFill>
              <a:srgbClr val="2DB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FAFC"/>
                </a:solidFill>
                <a:latin typeface="Aptos Display"/>
              </a:defRPr>
            </a:pPr>
            <a:r>
              <a:t>Chennai, Tamil Nadu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9F5D5"/>
                </a:solidFill>
                <a:latin typeface="Aptos Display"/>
              </a:defRPr>
            </a:pPr>
            <a:r>
              <a:t>City monitoring map / camera coverage</a:t>
            </a:r>
          </a:p>
        </p:txBody>
      </p:sp>
      <p:sp>
        <p:nvSpPr>
          <p:cNvPr id="8" name="Oval 7"/>
          <p:cNvSpPr/>
          <p:nvPr/>
        </p:nvSpPr>
        <p:spPr>
          <a:xfrm>
            <a:off x="1828800" y="3246120"/>
            <a:ext cx="292608" cy="292608"/>
          </a:xfrm>
          <a:prstGeom prst="ellipse">
            <a:avLst/>
          </a:prstGeom>
          <a:solidFill>
            <a:srgbClr val="FA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94760" y="3749039"/>
            <a:ext cx="292608" cy="292608"/>
          </a:xfrm>
          <a:prstGeom prst="ellipse">
            <a:avLst/>
          </a:prstGeom>
          <a:solidFill>
            <a:srgbClr val="FA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80" y="3063240"/>
            <a:ext cx="292608" cy="292608"/>
          </a:xfrm>
          <a:prstGeom prst="ellipse">
            <a:avLst/>
          </a:prstGeom>
          <a:solidFill>
            <a:srgbClr val="FA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4709160"/>
            <a:ext cx="292608" cy="292608"/>
          </a:xfrm>
          <a:prstGeom prst="ellipse">
            <a:avLst/>
          </a:prstGeom>
          <a:solidFill>
            <a:srgbClr val="FA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18120" y="1737360"/>
            <a:ext cx="3429000" cy="114300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737360"/>
            <a:ext cx="64008" cy="114300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94767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Map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3774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Chennai / Tamil Nadu establishes a relevant operational starting point.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3154680"/>
            <a:ext cx="3429000" cy="114300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3154680"/>
            <a:ext cx="64008" cy="1143000"/>
          </a:xfrm>
          <a:prstGeom prst="rect">
            <a:avLst/>
          </a:prstGeom>
          <a:solidFill>
            <a:srgbClr val="FA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36499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Camera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794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Shows available monitoring locations alongside service activity.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4572000"/>
            <a:ext cx="3429000" cy="114300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4572000"/>
            <a:ext cx="64008" cy="114300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78231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Actionable oversight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212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Helps administrators coordinate city operations with clearer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5FAFC"/>
                </a:solidFill>
                <a:latin typeface="Aptos Display"/>
              </a:defRPr>
            </a:pPr>
            <a:r>
              <a:t>Eco Loop: a cleaner, more accountable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5FAFC"/>
                </a:solidFill>
                <a:latin typeface="Aptos Display"/>
              </a:defRPr>
            </a:pPr>
            <a:r>
              <a:t>Connect people, collection teams, and city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BBEC9"/>
                </a:solidFill>
                <a:latin typeface="Aptos Display"/>
              </a:defRPr>
            </a:pPr>
            <a:r>
              <a:t>Make recycling activity easy to record, easy to review, and easier to improve.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60520"/>
            <a:ext cx="3063240" cy="100584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160520"/>
            <a:ext cx="64008" cy="100584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370832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Transparent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8006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Every collection has a visible record.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4160520"/>
            <a:ext cx="3063240" cy="100584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4160520"/>
            <a:ext cx="64008" cy="1005840"/>
          </a:xfrm>
          <a:prstGeom prst="rect">
            <a:avLst/>
          </a:prstGeom>
          <a:solidFill>
            <a:srgbClr val="FA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4370832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Practical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48006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Designed around real collection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4160520"/>
            <a:ext cx="3063240" cy="1005840"/>
          </a:xfrm>
          <a:prstGeom prst="roundRect">
            <a:avLst/>
          </a:prstGeom>
          <a:solidFill>
            <a:srgbClr val="142B39"/>
          </a:solidFill>
          <a:ln>
            <a:solidFill>
              <a:srgbClr val="25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4160520"/>
            <a:ext cx="64008" cy="1005840"/>
          </a:xfrm>
          <a:prstGeom prst="rect">
            <a:avLst/>
          </a:prstGeom>
          <a:solidFill>
            <a:srgbClr val="2D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1624" y="4370832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FAFC"/>
                </a:solidFill>
                <a:latin typeface="Aptos Display"/>
              </a:defRPr>
            </a:pPr>
            <a:r>
              <a:t>City-ready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48006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BBEC9"/>
                </a:solidFill>
                <a:latin typeface="Aptos Display"/>
              </a:defRPr>
            </a:pPr>
            <a:r>
              <a:t>Built for Chennai-focused monitoring and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